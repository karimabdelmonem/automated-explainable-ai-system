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A0E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7C6B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18288"/>
          </a:xfrm>
          <a:prstGeom prst="rect">
            <a:avLst/>
          </a:prstGeom>
          <a:solidFill>
            <a:srgbClr val="4EA8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4EA8FF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7C6BFF">
              <a:alpha val="20000"/>
            </a:srgbClr>
          </a:solidFill>
          <a:ln w="12700">
            <a:solidFill>
              <a:srgbClr val="0A0E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4EA8FF">
              <a:alpha val="15000"/>
            </a:srgbClr>
          </a:solidFill>
          <a:ln w="12700">
            <a:solidFill>
              <a:srgbClr val="0A0E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· 2025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Explainable AI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i="1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Loan Default Prediction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777240" y="3383280"/>
            <a:ext cx="640080" cy="45720"/>
          </a:xfrm>
          <a:prstGeom prst="rect">
            <a:avLst/>
          </a:prstGeom>
          <a:solidFill>
            <a:srgbClr val="7C6B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5661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credit data to a transparent, deployed underwriting system —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LightGBM · SHAP · LIME · FastAPI · Flask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5120640"/>
            <a:ext cx="3657600" cy="1097280"/>
          </a:xfrm>
          <a:prstGeom prst="rect">
            <a:avLst/>
          </a:prstGeom>
          <a:solidFill>
            <a:srgbClr val="141B3D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52120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Karim Abdelmonem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Ezzeldeen · Mohamed A. · Mohamed H. · Mostafa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5120640"/>
            <a:ext cx="3200400" cy="1097280"/>
          </a:xfrm>
          <a:prstGeom prst="rect">
            <a:avLst/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52120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depi-loan-default-xai-frontend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.onrender.com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5120640"/>
            <a:ext cx="3474720" cy="1097280"/>
          </a:xfrm>
          <a:prstGeom prst="rect">
            <a:avLst/>
          </a:prstGeom>
          <a:solidFill>
            <a:srgbClr val="141B3D"/>
          </a:solidFill>
          <a:ln w="12700">
            <a:solidFill>
              <a:srgbClr val="FFC4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52120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github.com/karimabdelmonem/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automated-explainable-ai-system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system, from data to decision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7C6B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141B3D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109728" cy="2103120"/>
          </a:xfrm>
          <a:prstGeom prst="rect">
            <a:avLst/>
          </a:prstGeom>
          <a:solidFill>
            <a:srgbClr val="7C6BFF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reject/accept loans with black-box models.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and applicants demand explanations.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828800"/>
            <a:ext cx="109728" cy="2103120"/>
          </a:xfrm>
          <a:prstGeom prst="rect">
            <a:avLst/>
          </a:prstGeom>
          <a:solidFill>
            <a:srgbClr val="4EA8FF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965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46520" y="251460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255K+ real loan records · 18 features · 11.6% default rate · 7.7:1 class imbalance.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16052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141B3D"/>
          </a:solidFill>
          <a:ln w="12700">
            <a:solidFill>
              <a:srgbClr val="5EE6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160520"/>
            <a:ext cx="109728" cy="2103120"/>
          </a:xfrm>
          <a:prstGeom prst="rect">
            <a:avLst/>
          </a:prstGeom>
          <a:solidFill>
            <a:srgbClr val="5EE6A8"/>
          </a:solidFill>
          <a:ln w="12700">
            <a:solidFill>
              <a:srgbClr val="5EE6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297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484632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tuned + threshold-optimised.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0.743 · F1 0.85 at operating point.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72200" y="4160520"/>
            <a:ext cx="5394960" cy="2103120"/>
          </a:xfrm>
          <a:prstGeom prst="roundRect">
            <a:avLst>
              <a:gd name="adj" fmla="val 4348"/>
            </a:avLst>
          </a:prstGeom>
          <a:solidFill>
            <a:srgbClr val="141B3D"/>
          </a:solidFill>
          <a:ln w="12700">
            <a:solidFill>
              <a:srgbClr val="FFC4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4160520"/>
            <a:ext cx="109728" cy="2103120"/>
          </a:xfrm>
          <a:prstGeom prst="rect">
            <a:avLst/>
          </a:prstGeom>
          <a:solidFill>
            <a:srgbClr val="FFC46B"/>
          </a:solidFill>
          <a:ln w="12700">
            <a:solidFill>
              <a:srgbClr val="FFC4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4297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Explanation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46520" y="484632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(global + local) &amp; LIME wired into every prediction — live in the browser.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explainability is non-negotiable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7C6B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loan model that says just "denied" is a legal risk, a reputational risk, and a data-quality blind spot.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80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255,347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applications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274320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141B3D"/>
          </a:solidFill>
          <a:ln w="12700">
            <a:solidFill>
              <a:srgbClr val="FFC4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2880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11.6%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389120" y="3794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0" y="274320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141B3D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0" y="2880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 : 1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8229600" y="3794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93776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an accurate default-risk model AND surface WHY every decision was made — globally and per-applicant.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material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7C6B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37360"/>
            <a:ext cx="5669280" cy="4572000"/>
          </a:xfrm>
          <a:prstGeom prst="roundRect">
            <a:avLst>
              <a:gd name="adj" fmla="val 2000"/>
            </a:avLst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(18 features + target)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65960" y="237744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· Income · LoanAmount · CreditScore · MonthsEmployed · NumCreditLines · InterestRate · LoanTerm · DTIRatio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108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65960" y="310896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(HS → PhD)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84048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65960" y="384048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EmploymentType · MaritalStatus · LoanPurpose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5720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65960" y="45720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HasMortgage · HasDependents · HasCoSigner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53035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65960" y="53035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(0 / 1)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92240" y="173736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141B3D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75120" y="228600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· nikhil1e9/loan-default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255,347 rows · 18 columns
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5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missing values · zero duplicates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92240" y="4023360"/>
            <a:ext cx="5120640" cy="2286000"/>
          </a:xfrm>
          <a:prstGeom prst="roundRect">
            <a:avLst>
              <a:gd name="adj" fmla="val 4000"/>
            </a:avLst>
          </a:prstGeom>
          <a:solidFill>
            <a:srgbClr val="141B3D"/>
          </a:solidFill>
          <a:ln w="12700">
            <a:solidFill>
              <a:srgbClr val="FFC4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4114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quality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75120" y="457200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raw correlations with default: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 (−0.17)   • InterestRate (+0.13)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CreditScore (−0.20)   • DTIRatio (+0.09)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signal is weak — feature engineering does the heavy lifting.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CLEANING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7C6BFF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78308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874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23317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LoanID has no predictive value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78308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874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23317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encode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20440" y="283464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 → 1/0 on 3 columns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178308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874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63640" y="23317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&amp; NaN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283464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missing · 0 duplicates confirmed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0" y="178308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1874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0" y="23317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281160" y="283464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∩ LOF — high-confidence only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06908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160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6177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512064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Income, LoanAmount (skewness ≈ 2.0)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406908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4160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46177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520440" y="512064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ordinal · rest one-hot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406908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4160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46177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70 / 15 / 15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00800" y="512064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· test set touched once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44000" y="4069080"/>
            <a:ext cx="2697480" cy="2011680"/>
          </a:xfrm>
          <a:prstGeom prst="roundRect">
            <a:avLst>
              <a:gd name="adj" fmla="val 4545"/>
            </a:avLst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0" y="4160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144000" y="46177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SMOTETomek + Scale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281160" y="512064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only — no leakage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FEATURE ENGINEERING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 signals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7C6B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 have weak signal (max |corr| ≈ 0.20). Engineered ratios capture the interaction of risk drivers.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1064240" cy="457200"/>
          </a:xfrm>
          <a:prstGeom prst="rect">
            <a:avLst/>
          </a:prstGeom>
          <a:solidFill>
            <a:srgbClr val="7C6BFF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749040" y="22860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12480" y="22860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11064240" cy="411480"/>
          </a:xfrm>
          <a:prstGeom prst="rect">
            <a:avLst/>
          </a:prstGeom>
          <a:solidFill>
            <a:srgbClr val="141B3D"/>
          </a:solidFill>
          <a:ln w="12700">
            <a:solidFill>
              <a:srgbClr val="141B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7432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loan_to_income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49040" y="27432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LoanAmount / Income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955280" y="27432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1546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employment_ratio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31546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MonthsEmp / (Age×12)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55280" y="31546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stability × 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11064240" cy="411480"/>
          </a:xfrm>
          <a:prstGeom prst="rect">
            <a:avLst/>
          </a:prstGeom>
          <a:solidFill>
            <a:srgbClr val="141B3D"/>
          </a:solidFill>
          <a:ln w="12700">
            <a:solidFill>
              <a:srgbClr val="141B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5661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monthly_payment_est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49040" y="35661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LoanAmt × Rate / (Term×12)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55280" y="3566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burden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39776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payment_to_income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49040" y="39776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monthly_pay / (Inc/12)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55280" y="39776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pressure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389120"/>
            <a:ext cx="11064240" cy="411480"/>
          </a:xfrm>
          <a:prstGeom prst="rect">
            <a:avLst/>
          </a:prstGeom>
          <a:solidFill>
            <a:srgbClr val="141B3D"/>
          </a:solidFill>
          <a:ln w="12700">
            <a:solidFill>
              <a:srgbClr val="141B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3891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debt_burden_score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49040" y="43891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DTI × InterestRate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55280" y="4389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stress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4800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risk_score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49040" y="48006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0.4·(1−CS) + 0.35·DTI + 0.25·Rate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955280" y="48006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signal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212080"/>
            <a:ext cx="11064240" cy="411480"/>
          </a:xfrm>
          <a:prstGeom prst="rect">
            <a:avLst/>
          </a:prstGeom>
          <a:solidFill>
            <a:srgbClr val="141B3D"/>
          </a:solidFill>
          <a:ln w="12700">
            <a:solidFill>
              <a:srgbClr val="141B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52120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high_risk_flag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749040" y="52120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DTI&gt;0.45 AND CS&lt;600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955280" y="52120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Double-risk pattern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" y="5623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is_very_high_risk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749040" y="5623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CS&lt;580 AND DTI&gt;0.4 AND Rate&gt;15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955280" y="5623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Triple-risk flag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6035040"/>
            <a:ext cx="11064240" cy="411480"/>
          </a:xfrm>
          <a:prstGeom prst="rect">
            <a:avLst/>
          </a:prstGeom>
          <a:solidFill>
            <a:srgbClr val="141B3D"/>
          </a:solidFill>
          <a:ln w="12700">
            <a:solidFill>
              <a:srgbClr val="141B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60350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E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creditscore_band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749040" y="60350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cut(CS, [300,580,670,740,850])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955280" y="60350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tiers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EDA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actually says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7C6B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88.4 / 11.6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108960" y="19202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split — moderate imbalance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41B3D"/>
          </a:solidFill>
          <a:ln w="12700">
            <a:solidFill>
              <a:srgbClr val="5EE6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9202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300–850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778240" y="19202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CreditScore is the top raw predictor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41B3D"/>
          </a:solidFill>
          <a:ln w="12700">
            <a:solidFill>
              <a:srgbClr val="FFC4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004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≈ 2.0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108960" y="3200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&amp; LoanAmount are heavy-tailed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108960"/>
            <a:ext cx="5394960" cy="1051560"/>
          </a:xfrm>
          <a:prstGeom prst="roundRect">
            <a:avLst>
              <a:gd name="adj" fmla="val 8696"/>
            </a:avLst>
          </a:prstGeom>
          <a:solidFill>
            <a:srgbClr val="141B3D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20040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nulls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778240" y="3200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arrived clean — rare luxury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11064240" cy="1737360"/>
          </a:xfrm>
          <a:prstGeom prst="roundRect">
            <a:avLst>
              <a:gd name="adj" fmla="val 5263"/>
            </a:avLst>
          </a:prstGeom>
          <a:solidFill>
            <a:srgbClr val="141B3D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663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takeaway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50292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distributions are healthy but no single feature separates defaulters from non-defaulters cleanly. This confirms that a non-linear model (LightGBM) with engineered interaction features is the right approach — a linear model bottoms out around ROC-AUC 0.68.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DIAGNOSTICS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curves &amp; bias/variance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7C6B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45920"/>
            <a:ext cx="786384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03920" y="1645920"/>
            <a:ext cx="3291840" cy="4754880"/>
          </a:xfrm>
          <a:prstGeom prst="roundRect">
            <a:avLst>
              <a:gd name="adj" fmla="val 2778"/>
            </a:avLst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0" y="1783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curves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0" y="2194560"/>
            <a:ext cx="3017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Tree models converge fast — plateau after ~40% of data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Small train/val gap → no severe overfit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LightGBM &amp; XGBoost dominate the linear baseline early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 MLP needs SMOTE + longer patience to catch up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MODELS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trained · three families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7C6B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141B3D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3611880" cy="73152"/>
          </a:xfrm>
          <a:prstGeom prst="rect">
            <a:avLst/>
          </a:prstGeom>
          <a:solidFill>
            <a:srgbClr val="7C6BFF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65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Logistic Regression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783080"/>
            <a:ext cx="3611880" cy="73152"/>
          </a:xfrm>
          <a:prstGeom prst="rect">
            <a:avLst/>
          </a:prstGeom>
          <a:solidFill>
            <a:srgbClr val="4EA8FF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965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(imbalance-aware)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26280" y="251460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Forest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XGBoost (scale_pos_weight)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LightGBM (class_weight)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78308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141B3D"/>
          </a:solidFill>
          <a:ln w="12700">
            <a:solidFill>
              <a:srgbClr val="5EE6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783080"/>
            <a:ext cx="3611880" cy="73152"/>
          </a:xfrm>
          <a:prstGeom prst="rect">
            <a:avLst/>
          </a:prstGeom>
          <a:solidFill>
            <a:srgbClr val="5EE6A8"/>
          </a:solidFill>
          <a:ln w="12700">
            <a:solidFill>
              <a:srgbClr val="5EE6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9659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21040" y="251460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Tabular MLP (baseline)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Optimised MLP 512→256→128→64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6052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141B3D"/>
          </a:solidFill>
          <a:ln w="12700">
            <a:solidFill>
              <a:srgbClr val="FFC4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160520"/>
            <a:ext cx="3611880" cy="73152"/>
          </a:xfrm>
          <a:prstGeom prst="rect">
            <a:avLst/>
          </a:prstGeom>
          <a:solidFill>
            <a:srgbClr val="FFC46B"/>
          </a:solidFill>
          <a:ln w="12700">
            <a:solidFill>
              <a:srgbClr val="FFC4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343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&amp; re-sampled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8920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LightGBM_Tuned (RandomizedSearchCV)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LightGBM_ValEarlyStop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LightGBM_SMOTE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416052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141B3D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4160520"/>
            <a:ext cx="3611880" cy="73152"/>
          </a:xfrm>
          <a:prstGeom prst="rect">
            <a:avLst/>
          </a:prstGeom>
          <a:solidFill>
            <a:srgbClr val="7C6BFF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4343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26280" y="48920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Soft-voting: LGBM + XGB + MLP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LEADERBOARD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results, F1-optimal threshold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7C6BF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737360"/>
            <a:ext cx="9052560" cy="457200"/>
          </a:xfrm>
          <a:prstGeom prst="rect">
            <a:avLst/>
          </a:prstGeom>
          <a:solidFill>
            <a:srgbClr val="7C6BFF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737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3400" y="17373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15000" y="1737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178040" y="1737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41080" y="1737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2194560"/>
            <a:ext cx="9052560" cy="384048"/>
          </a:xfrm>
          <a:prstGeom prst="rect">
            <a:avLst/>
          </a:prstGeom>
          <a:solidFill>
            <a:srgbClr val="141B3D"/>
          </a:solidFill>
          <a:ln w="12700">
            <a:solidFill>
              <a:srgbClr val="141B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19456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Tabular_DL_Optimized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43400" y="219456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0.2283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15000" y="21945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0.8019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78040" y="21945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0.8217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41080" y="21945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0.7413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257860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Tabular_DL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43400" y="257860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0.2606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15000" y="257860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0.7886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78040" y="257860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0.8134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41080" y="257860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0.7424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14400" y="2962656"/>
            <a:ext cx="9052560" cy="384048"/>
          </a:xfrm>
          <a:prstGeom prst="rect">
            <a:avLst/>
          </a:prstGeom>
          <a:solidFill>
            <a:srgbClr val="1F2A6B"/>
          </a:solidFill>
          <a:ln w="12700">
            <a:solidFill>
              <a:srgbClr val="FFC4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296265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43400" y="296265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0.2082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15000" y="296265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0.7858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78040" y="296265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0.8113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41080" y="296265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0.7428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" y="334670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LightGBM_Tuned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43400" y="334670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0.1865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15000" y="334670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0.7838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78040" y="334670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0.8096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41080" y="334670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0.7332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4400" y="3730752"/>
            <a:ext cx="9052560" cy="384048"/>
          </a:xfrm>
          <a:prstGeom prst="rect">
            <a:avLst/>
          </a:prstGeom>
          <a:solidFill>
            <a:srgbClr val="141B3D"/>
          </a:solidFill>
          <a:ln w="12700">
            <a:solidFill>
              <a:srgbClr val="141B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51560" y="373075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LightGBM_SMOTE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343400" y="373075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0.1865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15000" y="373075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0.7838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178040" y="373075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0.8096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641080" y="373075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0.7332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51560" y="41148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343400" y="411480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0.2073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715000" y="41148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0.7747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78040" y="41148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0.8038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641080" y="411480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0.7394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14400" y="4498848"/>
            <a:ext cx="9052560" cy="384048"/>
          </a:xfrm>
          <a:prstGeom prst="rect">
            <a:avLst/>
          </a:prstGeom>
          <a:solidFill>
            <a:srgbClr val="141B3D"/>
          </a:solidFill>
          <a:ln w="12700">
            <a:solidFill>
              <a:srgbClr val="141B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51560" y="449884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Ensemble_Soft_Voting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343400" y="449884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0.2595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715000" y="449884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0.7711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178040" y="449884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0.8011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641080" y="449884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0.7346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051560" y="488289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LightGBM_ValEarlyStop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343400" y="4882896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0.1811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715000" y="488289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0.7670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178040" y="488289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0.7991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641080" y="488289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0.7385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14400" y="5266944"/>
            <a:ext cx="9052560" cy="384048"/>
          </a:xfrm>
          <a:prstGeom prst="rect">
            <a:avLst/>
          </a:prstGeom>
          <a:solidFill>
            <a:srgbClr val="141B3D"/>
          </a:solidFill>
          <a:ln w="12700">
            <a:solidFill>
              <a:srgbClr val="141B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51560" y="526694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Logistic_Regression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343400" y="5266944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0.3662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715000" y="526694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0.7683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178040" y="526694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0.7961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641080" y="526694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0.6801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051560" y="565099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Random_Forest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343400" y="5650992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0.3645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5715000" y="565099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0.7345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7178040" y="565099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0.7751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8641080" y="565099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0.7138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914400" y="61264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LightGBM chosen as production model — best ROC-AUC (0.7428), competitive F1, fast inference, native SHAP support.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 — all baselines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7C6B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00200"/>
            <a:ext cx="777240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1600200"/>
            <a:ext cx="3383280" cy="4846320"/>
          </a:xfrm>
          <a:prstGeom prst="roundRect">
            <a:avLst>
              <a:gd name="adj" fmla="val 2703"/>
            </a:avLst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95360" y="1737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ROC-AUC?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95360" y="219456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breaks accuracy — a naive model scores 88%.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measures rank quality independent of the threshold — the honest way to compare defaulter-detection ability.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595360" y="5029200"/>
            <a:ext cx="3108960" cy="27432"/>
          </a:xfrm>
          <a:prstGeom prst="rect">
            <a:avLst/>
          </a:prstGeom>
          <a:solidFill>
            <a:srgbClr val="7C6BFF"/>
          </a:solidFill>
          <a:ln/>
        </p:spPr>
      </p:sp>
      <p:sp>
        <p:nvSpPr>
          <p:cNvPr id="10" name="Text 7"/>
          <p:cNvSpPr/>
          <p:nvPr/>
        </p:nvSpPr>
        <p:spPr>
          <a:xfrm>
            <a:off x="8595360" y="5166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  </a:t>
            </a:r>
            <a:pPr indent="0" marL="0">
              <a:buNone/>
            </a:pPr>
            <a:r>
              <a:rPr lang="en-US" sz="13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0.743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595360" y="5577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  </a:t>
            </a:r>
            <a:pPr indent="0" marL="0">
              <a:buNone/>
            </a:pPr>
            <a:r>
              <a:rPr lang="en-US" sz="13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0.739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595360" y="5989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 </a:t>
            </a:r>
            <a:pPr indent="0" marL="0">
              <a:buNone/>
            </a:pPr>
            <a:r>
              <a:rPr lang="en-US" sz="13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0.680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Precision–Recall — minority class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7C6B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00200"/>
            <a:ext cx="7772400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12480" y="1600200"/>
            <a:ext cx="3383280" cy="4846320"/>
          </a:xfrm>
          <a:prstGeom prst="roundRect">
            <a:avLst>
              <a:gd name="adj" fmla="val 2703"/>
            </a:avLst>
          </a:prstGeom>
          <a:solidFill>
            <a:srgbClr val="141B3D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95360" y="1737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beats ROC here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95360" y="2194560"/>
            <a:ext cx="31089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11.6% positive rate, Precision–Recall exposes the real trade-off cost banks pay: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recall → catches defaulters, but rejects good customers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precision → clean approvals, but misses risk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threshold is chosen ON the validation set — never on test.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· all models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7C6B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00200"/>
            <a:ext cx="11247120" cy="4937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THRESHOLD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F1-optimal threshold shifts everything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7C6B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45920"/>
            <a:ext cx="768096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164592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141B3D"/>
          </a:solidFill>
          <a:ln w="12700">
            <a:solidFill>
              <a:srgbClr val="FFC4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0.5?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03920" y="224028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11.6% positives, the default 0.5 cut-off is far too conservative.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Sweeping the threshold and maximising F1 on validation gives: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LightGBM → 0.208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Tabular DL → 0.228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Logistic → 0.366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for defaulters jumps from ~15% → ~50%, at the cost of some false alarms — the right trade for a bank.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TRADE-OFF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 recall — pick a business point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7C6B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1645920"/>
            <a:ext cx="9418320" cy="4754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MODEL CHOICE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LightGBM won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7C6B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141B3D"/>
          </a:solidFill>
          <a:ln w="12700">
            <a:solidFill>
              <a:srgbClr val="FFC4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011680"/>
            <a:ext cx="502920" cy="502920"/>
          </a:xfrm>
          <a:prstGeom prst="ellipse">
            <a:avLst/>
          </a:prstGeom>
          <a:solidFill>
            <a:srgbClr val="FFC46B"/>
          </a:solidFill>
          <a:ln w="12700">
            <a:solidFill>
              <a:srgbClr val="FFC4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ROC-AUC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0.7428 — best rank quality across the leaderboard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011680"/>
            <a:ext cx="502920" cy="502920"/>
          </a:xfrm>
          <a:prstGeom prst="ellipse">
            <a:avLst/>
          </a:prstGeom>
          <a:solidFill>
            <a:srgbClr val="4EA8FF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66360" y="20116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inference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26280" y="269748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 ms per prediction — fits FastAPI request budget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141B3D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2011680"/>
            <a:ext cx="502920" cy="502920"/>
          </a:xfrm>
          <a:prstGeom prst="ellipse">
            <a:avLst/>
          </a:prstGeom>
          <a:solidFill>
            <a:srgbClr val="7C6BFF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011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1120" y="20116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SHAP-native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21040" y="269748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TreeExplainer runs in O(TLD²) — real-time explanations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141B3D"/>
          </a:solidFill>
          <a:ln w="12700">
            <a:solidFill>
              <a:srgbClr val="5EE6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297680"/>
            <a:ext cx="502920" cy="502920"/>
          </a:xfrm>
          <a:prstGeom prst="ellipse">
            <a:avLst/>
          </a:prstGeom>
          <a:solidFill>
            <a:srgbClr val="5EE6A8"/>
          </a:solidFill>
          <a:ln w="12700">
            <a:solidFill>
              <a:srgbClr val="5EE6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2976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imbalance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20" y="498348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beats naive SMOTE-only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43400" y="411480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26280" y="4297680"/>
            <a:ext cx="502920" cy="502920"/>
          </a:xfrm>
          <a:prstGeom prst="ellipse">
            <a:avLst/>
          </a:prstGeom>
          <a:solidFill>
            <a:srgbClr val="4EA8FF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2628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66360" y="42976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artifact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26280" y="498348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&lt; 5 MB — cheap to deploy on Render free tier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38160" y="4114800"/>
            <a:ext cx="3611880" cy="2057400"/>
          </a:xfrm>
          <a:prstGeom prst="roundRect">
            <a:avLst>
              <a:gd name="adj" fmla="val 4444"/>
            </a:avLst>
          </a:prstGeom>
          <a:solidFill>
            <a:srgbClr val="141B3D"/>
          </a:solidFill>
          <a:ln w="12700">
            <a:solidFill>
              <a:srgbClr val="FFC4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21040" y="4297680"/>
            <a:ext cx="502920" cy="502920"/>
          </a:xfrm>
          <a:prstGeom prst="ellipse">
            <a:avLst/>
          </a:prstGeom>
          <a:solidFill>
            <a:srgbClr val="FFC46B"/>
          </a:solidFill>
          <a:ln w="12700">
            <a:solidFill>
              <a:srgbClr val="FFC4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61120" y="429768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ceiling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21040" y="4983480"/>
            <a:ext cx="3246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structure lets analysts audit splits by hand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XAI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7C6B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743200"/>
            <a:ext cx="2103120" cy="2011680"/>
          </a:xfrm>
          <a:prstGeom prst="roundRect">
            <a:avLst>
              <a:gd name="adj" fmla="val 5455"/>
            </a:avLst>
          </a:prstGeom>
          <a:solidFill>
            <a:srgbClr val="141B3D"/>
          </a:solidFill>
          <a:ln w="25400">
            <a:solidFill>
              <a:srgbClr val="4EA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880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raw applicant fields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web form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rot="5400000">
            <a:off x="2606040" y="3675888"/>
            <a:ext cx="164592" cy="146304"/>
          </a:xfrm>
          <a:prstGeom prst="rightTriangle">
            <a:avLst/>
          </a:prstGeom>
          <a:solidFill>
            <a:srgbClr val="4EA8FF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88920" y="2743200"/>
            <a:ext cx="2103120" cy="2011680"/>
          </a:xfrm>
          <a:prstGeom prst="roundRect">
            <a:avLst>
              <a:gd name="adj" fmla="val 5455"/>
            </a:avLst>
          </a:prstGeom>
          <a:solidFill>
            <a:srgbClr val="141B3D"/>
          </a:solidFill>
          <a:ln w="25400">
            <a:solidFill>
              <a:srgbClr val="7C6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8920" y="2880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880360" y="338328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scaler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rot="5400000">
            <a:off x="4937760" y="3675888"/>
            <a:ext cx="164592" cy="146304"/>
          </a:xfrm>
          <a:prstGeom prst="rightTriangle">
            <a:avLst/>
          </a:prstGeom>
          <a:solidFill>
            <a:srgbClr val="4EA8FF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0" y="2743200"/>
            <a:ext cx="2103120" cy="2011680"/>
          </a:xfrm>
          <a:prstGeom prst="roundRect">
            <a:avLst>
              <a:gd name="adj" fmla="val 5455"/>
            </a:avLst>
          </a:prstGeom>
          <a:solidFill>
            <a:srgbClr val="141B3D"/>
          </a:solidFill>
          <a:ln w="25400">
            <a:solidFill>
              <a:srgbClr val="5EE6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2880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12080" y="338328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+ class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5400000">
            <a:off x="7269480" y="3675888"/>
            <a:ext cx="164592" cy="146304"/>
          </a:xfrm>
          <a:prstGeom prst="rightTriangle">
            <a:avLst/>
          </a:prstGeom>
          <a:solidFill>
            <a:srgbClr val="4EA8FF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52360" y="2743200"/>
            <a:ext cx="2103120" cy="2011680"/>
          </a:xfrm>
          <a:prstGeom prst="roundRect">
            <a:avLst>
              <a:gd name="adj" fmla="val 5455"/>
            </a:avLst>
          </a:prstGeom>
          <a:solidFill>
            <a:srgbClr val="141B3D"/>
          </a:solidFill>
          <a:ln w="25400">
            <a:solidFill>
              <a:srgbClr val="FFC4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2880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43800" y="338328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TreeExplainer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LIME tabular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 rot="5400000">
            <a:off x="9601200" y="3675888"/>
            <a:ext cx="164592" cy="146304"/>
          </a:xfrm>
          <a:prstGeom prst="rightTriangle">
            <a:avLst/>
          </a:prstGeom>
          <a:solidFill>
            <a:srgbClr val="4EA8FF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84080" y="2743200"/>
            <a:ext cx="2103120" cy="2011680"/>
          </a:xfrm>
          <a:prstGeom prst="roundRect">
            <a:avLst>
              <a:gd name="adj" fmla="val 5455"/>
            </a:avLst>
          </a:prstGeom>
          <a:solidFill>
            <a:srgbClr val="141B3D"/>
          </a:solidFill>
          <a:ln w="25400">
            <a:solidFill>
              <a:srgbClr val="4EA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84080" y="2880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875520" y="3383280"/>
            <a:ext cx="1920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AI credit officer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21208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141B3D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3035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returns four artefacts: probability, decision, SHAP contributions (JSON), LIME explanation (HTML/JSON). The frontend renders all four in a single request-response cycle.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SHAP · GLOBAL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— what drives risk overall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7C6B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45920"/>
            <a:ext cx="768096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164592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141B3D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03920" y="219456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engineered features dominate.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risk_score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debt_burden_score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payment_to_income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InterestRate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CreditScore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the feature-engineering hypothesis: composite signals beat raw fields.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SHAP · BEESWARM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Directionality of each feature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7C6B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45920"/>
            <a:ext cx="768096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164592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swarm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03920" y="219456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dot = one applicant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X-axis = SHAP value (impact on default probability)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Color = raw feature value (red high, blue low)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risk_score (red, right) → strong push toward default.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CreditScore (red, left) → protective.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model's reasoning matches domain intuition.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· SHAP · LOCAL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applicant, decomposed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7C6B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45920"/>
            <a:ext cx="768096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164592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141B3D"/>
          </a:solidFill>
          <a:ln w="12700">
            <a:solidFill>
              <a:srgbClr val="FFC4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= audit trail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03920" y="219456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value E[f(x)] + contributions = final prediction.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bar is a legally defensible reason for the decision — the exact quantity a regulator or an applicant can ask for.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panel is embedded in the live app, per prediction.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· LIME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surrogate — a second opinion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7C6B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45920"/>
            <a:ext cx="768096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164592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141B3D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03920" y="219456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SHAP: exact, additive, expensive.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LIME: fast, approximate, model-agnostic.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between the two increases confidence.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run at request time; the frontend flags disagreement so analysts can dig in.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·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request path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7C6BFF"/>
          </a:solidFill>
          <a:ln/>
        </p:spPr>
      </p:sp>
      <p:sp>
        <p:nvSpPr>
          <p:cNvPr id="5" name="Shape 3"/>
          <p:cNvSpPr/>
          <p:nvPr/>
        </p:nvSpPr>
        <p:spPr>
          <a:xfrm>
            <a:off x="1188720" y="1828800"/>
            <a:ext cx="548640" cy="548640"/>
          </a:xfrm>
          <a:prstGeom prst="ellipse">
            <a:avLst/>
          </a:prstGeom>
          <a:solidFill>
            <a:srgbClr val="4EA8FF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440180" y="2377440"/>
            <a:ext cx="45720" cy="201168"/>
          </a:xfrm>
          <a:prstGeom prst="rect">
            <a:avLst/>
          </a:prstGeom>
          <a:solidFill>
            <a:srgbClr val="9BA3C7"/>
          </a:solidFill>
          <a:ln w="12700">
            <a:solidFill>
              <a:srgbClr val="9BA3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1783080"/>
            <a:ext cx="8686800" cy="658368"/>
          </a:xfrm>
          <a:prstGeom prst="roundRect">
            <a:avLst>
              <a:gd name="adj" fmla="val 11111"/>
            </a:avLst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78308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form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852160" y="1783080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fields · /result POST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88720" y="2578608"/>
            <a:ext cx="548640" cy="548640"/>
          </a:xfrm>
          <a:prstGeom prst="ellipse">
            <a:avLst/>
          </a:prstGeom>
          <a:solidFill>
            <a:srgbClr val="7C6BFF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5786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440180" y="3127248"/>
            <a:ext cx="45720" cy="201168"/>
          </a:xfrm>
          <a:prstGeom prst="rect">
            <a:avLst/>
          </a:prstGeom>
          <a:solidFill>
            <a:srgbClr val="9BA3C7"/>
          </a:solidFill>
          <a:ln w="12700">
            <a:solidFill>
              <a:srgbClr val="9BA3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2532888"/>
            <a:ext cx="8686800" cy="658368"/>
          </a:xfrm>
          <a:prstGeom prst="roundRect">
            <a:avLst>
              <a:gd name="adj" fmla="val 11111"/>
            </a:avLst>
          </a:prstGeom>
          <a:solidFill>
            <a:srgbClr val="141B3D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53288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serialises payload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52160" y="2532888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→ FastAPI /predict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188720" y="3328416"/>
            <a:ext cx="548640" cy="548640"/>
          </a:xfrm>
          <a:prstGeom prst="ellipse">
            <a:avLst/>
          </a:prstGeom>
          <a:solidFill>
            <a:srgbClr val="5EE6A8"/>
          </a:solidFill>
          <a:ln w="12700">
            <a:solidFill>
              <a:srgbClr val="5EE6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332841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440180" y="3877056"/>
            <a:ext cx="45720" cy="201168"/>
          </a:xfrm>
          <a:prstGeom prst="rect">
            <a:avLst/>
          </a:prstGeom>
          <a:solidFill>
            <a:srgbClr val="9BA3C7"/>
          </a:solidFill>
          <a:ln w="12700">
            <a:solidFill>
              <a:srgbClr val="9BA3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11680" y="3282696"/>
            <a:ext cx="8686800" cy="658368"/>
          </a:xfrm>
          <a:prstGeom prst="roundRect">
            <a:avLst>
              <a:gd name="adj" fmla="val 11111"/>
            </a:avLst>
          </a:prstGeom>
          <a:solidFill>
            <a:srgbClr val="141B3D"/>
          </a:solidFill>
          <a:ln w="12700">
            <a:solidFill>
              <a:srgbClr val="5EE6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94560" y="3282696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rebuilds features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52160" y="3282696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scaler.pkl · engineered cols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88720" y="4078224"/>
            <a:ext cx="548640" cy="548640"/>
          </a:xfrm>
          <a:prstGeom prst="ellipse">
            <a:avLst/>
          </a:prstGeom>
          <a:solidFill>
            <a:srgbClr val="FFC46B"/>
          </a:solidFill>
          <a:ln w="12700">
            <a:solidFill>
              <a:srgbClr val="FFC4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40782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440180" y="4626864"/>
            <a:ext cx="45720" cy="201168"/>
          </a:xfrm>
          <a:prstGeom prst="rect">
            <a:avLst/>
          </a:prstGeom>
          <a:solidFill>
            <a:srgbClr val="9BA3C7"/>
          </a:solidFill>
          <a:ln w="12700">
            <a:solidFill>
              <a:srgbClr val="9BA3C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11680" y="4032504"/>
            <a:ext cx="8686800" cy="658368"/>
          </a:xfrm>
          <a:prstGeom prst="roundRect">
            <a:avLst>
              <a:gd name="adj" fmla="val 11111"/>
            </a:avLst>
          </a:prstGeom>
          <a:solidFill>
            <a:srgbClr val="141B3D"/>
          </a:solidFill>
          <a:ln w="12700">
            <a:solidFill>
              <a:srgbClr val="FFC4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4560" y="4032504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LightGBM.predict_proba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52160" y="4032504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+ class @ tuned threshold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188720" y="4828032"/>
            <a:ext cx="548640" cy="548640"/>
          </a:xfrm>
          <a:prstGeom prst="ellipse">
            <a:avLst/>
          </a:prstGeom>
          <a:solidFill>
            <a:srgbClr val="7C6BFF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828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1440180" y="5376672"/>
            <a:ext cx="45720" cy="201168"/>
          </a:xfrm>
          <a:prstGeom prst="rect">
            <a:avLst/>
          </a:prstGeom>
          <a:solidFill>
            <a:srgbClr val="9BA3C7"/>
          </a:solidFill>
          <a:ln w="12700">
            <a:solidFill>
              <a:srgbClr val="9BA3C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11680" y="4782312"/>
            <a:ext cx="8686800" cy="658368"/>
          </a:xfrm>
          <a:prstGeom prst="roundRect">
            <a:avLst>
              <a:gd name="adj" fmla="val 11111"/>
            </a:avLst>
          </a:prstGeom>
          <a:solidFill>
            <a:srgbClr val="141B3D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94560" y="478231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engine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852160" y="4782312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+ LIME on the fly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188720" y="5577840"/>
            <a:ext cx="548640" cy="548640"/>
          </a:xfrm>
          <a:prstGeom prst="ellipse">
            <a:avLst/>
          </a:prstGeom>
          <a:solidFill>
            <a:srgbClr val="4EA8FF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88720" y="5577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2011680" y="5532120"/>
            <a:ext cx="8686800" cy="658368"/>
          </a:xfrm>
          <a:prstGeom prst="roundRect">
            <a:avLst>
              <a:gd name="adj" fmla="val 11111"/>
            </a:avLst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94560" y="553212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renders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52160" y="5532120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· charts · AI credit officer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· SYSTEM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7C6B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45920"/>
            <a:ext cx="768096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164592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03920" y="219456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</a:t>
            </a:r>
            <a:pPr indent="0" marL="0">
              <a:buNone/>
            </a:pPr>
            <a:r>
              <a:rPr lang="en-US" sz="12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Jinja · vanilla JS
</a:t>
            </a:r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</a:t>
            </a:r>
            <a:pPr indent="0" marL="0">
              <a:buNone/>
            </a:pPr>
            <a:r>
              <a:rPr lang="en-US" sz="12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Pydantic
</a:t>
            </a:r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 </a:t>
            </a:r>
            <a:pPr indent="0" marL="0">
              <a:buNone/>
            </a:pPr>
            <a:r>
              <a:rPr lang="en-US" sz="12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· joblib
</a:t>
            </a:r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XAI  </a:t>
            </a:r>
            <a:pPr indent="0" marL="0">
              <a:buNone/>
            </a:pPr>
            <a:r>
              <a:rPr lang="en-US" sz="12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· LIME
</a:t>
            </a:r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 </a:t>
            </a:r>
            <a:pPr indent="0" marL="0">
              <a:buNone/>
            </a:pPr>
            <a:r>
              <a:rPr lang="en-US" sz="12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REST
</a:t>
            </a:r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 </a:t>
            </a:r>
            <a:pPr indent="0" marL="0">
              <a:buNone/>
            </a:pPr>
            <a:r>
              <a:rPr lang="en-US" sz="12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(credit officer)
</a:t>
            </a:r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 </a:t>
            </a:r>
            <a:pPr indent="0" marL="0">
              <a:buNone/>
            </a:pPr>
            <a:r>
              <a:rPr lang="en-US" sz="12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Render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· WEBSITE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— the pitch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7C6B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45920"/>
            <a:ext cx="5486400" cy="475488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645920"/>
            <a:ext cx="5486400" cy="4754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· WEBSITE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— features &amp;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7C6B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45920"/>
            <a:ext cx="5486400" cy="475488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645920"/>
            <a:ext cx="5486400" cy="47548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· WEBSITE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page — the model card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7C6B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645920"/>
            <a:ext cx="768096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21040" y="1645920"/>
            <a:ext cx="3474720" cy="4754880"/>
          </a:xfrm>
          <a:prstGeom prst="roundRect">
            <a:avLst>
              <a:gd name="adj" fmla="val 2632"/>
            </a:avLst>
          </a:prstGeom>
          <a:solidFill>
            <a:srgbClr val="141B3D"/>
          </a:solidFill>
          <a:ln w="12700">
            <a:solidFill>
              <a:srgbClr val="FFC4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1783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lives here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503920" y="2194560"/>
            <a:ext cx="3200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version &amp; training date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Global feature importance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Data-source disclosure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Known limitations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Fairness notes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auditors what they need before they ask.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·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7C6B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3611880" cy="365760"/>
          </a:xfrm>
          <a:prstGeom prst="rect">
            <a:avLst/>
          </a:prstGeom>
          <a:solidFill>
            <a:srgbClr val="4EA8FF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828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Flask 3.0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Jinja2 templates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Vanilla JS + Chart.js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141B3D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828800"/>
            <a:ext cx="3611880" cy="365760"/>
          </a:xfrm>
          <a:prstGeom prst="rect">
            <a:avLst/>
          </a:prstGeom>
          <a:solidFill>
            <a:srgbClr val="7C6BFF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828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26280" y="233172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FastAPI + Uvicorn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Pydantic schemas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Async request handling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141B3D"/>
          </a:solidFill>
          <a:ln w="12700">
            <a:solidFill>
              <a:srgbClr val="5EE6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1828800"/>
            <a:ext cx="3611880" cy="365760"/>
          </a:xfrm>
          <a:prstGeom prst="rect">
            <a:avLst/>
          </a:prstGeom>
          <a:solidFill>
            <a:srgbClr val="5EE6A8"/>
          </a:solidFill>
          <a:ln w="12700">
            <a:solidFill>
              <a:srgbClr val="5EE6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828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core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0" y="233172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LightGBM (joblib)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scikit-learn scaler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 engineered features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141B3D"/>
          </a:solidFill>
          <a:ln w="12700">
            <a:solidFill>
              <a:srgbClr val="FFC4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114800"/>
            <a:ext cx="3611880" cy="365760"/>
          </a:xfrm>
          <a:prstGeom prst="rect">
            <a:avLst/>
          </a:prstGeom>
          <a:solidFill>
            <a:srgbClr val="FFC46B"/>
          </a:solidFill>
          <a:ln w="12700">
            <a:solidFill>
              <a:srgbClr val="FFC4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114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461772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shap.TreeExplainer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lime.LimeTabularExplainer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Reference dataset cached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43400" y="411480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141B3D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43400" y="4114800"/>
            <a:ext cx="3611880" cy="365760"/>
          </a:xfrm>
          <a:prstGeom prst="rect">
            <a:avLst/>
          </a:prstGeom>
          <a:solidFill>
            <a:srgbClr val="7C6BFF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4114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auth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26280" y="461772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Kaggle raw CSV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Parquet processed splits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Supabase user auth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38160" y="411480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4114800"/>
            <a:ext cx="3611880" cy="365760"/>
          </a:xfrm>
          <a:prstGeom prst="rect">
            <a:avLst/>
          </a:prstGeom>
          <a:solidFill>
            <a:srgbClr val="4EA8FF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4114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21040" y="461772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 (frontend + backend)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Render web services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Gemini API for the credit officer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· CHALLENGES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notebooks don't show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7C6B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41B3D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91440" cy="1417320"/>
          </a:xfrm>
          <a:prstGeom prst="rect">
            <a:avLst/>
          </a:prstGeom>
          <a:solidFill>
            <a:srgbClr val="7C6BF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/ 12 split — naive accuracy is deceiving. Solved with SMOTETomek + class_weight + threshold tuning.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2200" y="1783080"/>
            <a:ext cx="91440" cy="1417320"/>
          </a:xfrm>
          <a:prstGeom prst="rect">
            <a:avLst/>
          </a:prstGeom>
          <a:solidFill>
            <a:srgbClr val="4EA8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874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raw signal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22860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single-feature correlation was 0.20. Fixed with 11 engineered interaction features.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41B3D"/>
          </a:solidFill>
          <a:ln w="12700">
            <a:solidFill>
              <a:srgbClr val="FFC4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383280"/>
            <a:ext cx="91440" cy="1417320"/>
          </a:xfrm>
          <a:prstGeom prst="rect">
            <a:avLst/>
          </a:prstGeom>
          <a:solidFill>
            <a:srgbClr val="FFC46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74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latency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38862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on 5K background samples was too slow. Cached a 500-row reference set — sub-second explanations.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33832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41B3D"/>
          </a:solidFill>
          <a:ln w="12700">
            <a:solidFill>
              <a:srgbClr val="5EE6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3383280"/>
            <a:ext cx="91440" cy="1417320"/>
          </a:xfrm>
          <a:prstGeom prst="rect">
            <a:avLst/>
          </a:prstGeom>
          <a:solidFill>
            <a:srgbClr val="5EE6A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474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Cold-start on free tier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38862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dyno sleep + backend spin-up. Added keep-alive pinger every 10 min.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9834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41B3D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983480"/>
            <a:ext cx="91440" cy="1417320"/>
          </a:xfrm>
          <a:prstGeom prst="rect">
            <a:avLst/>
          </a:prstGeom>
          <a:solidFill>
            <a:srgbClr val="7C6BF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074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≠ 0.5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54864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 F1-optimal per model on validation; test set never touched during selection.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72200" y="4983480"/>
            <a:ext cx="5440680" cy="1417320"/>
          </a:xfrm>
          <a:prstGeom prst="roundRect">
            <a:avLst>
              <a:gd name="adj" fmla="val 5161"/>
            </a:avLst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4983480"/>
            <a:ext cx="91440" cy="1417320"/>
          </a:xfrm>
          <a:prstGeom prst="rect">
            <a:avLst/>
          </a:prstGeom>
          <a:solidFill>
            <a:srgbClr val="4EA8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5074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reproducibility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54864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scaler.pkl + feature_names.pkl shipped in the API image → identical preprocessing prod &amp; train.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· FUTURE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goes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7C6B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141B3D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7C6BFF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explanations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would flip your decision?" — DiCE / actionable recourse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82880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011680"/>
            <a:ext cx="457200" cy="457200"/>
          </a:xfrm>
          <a:prstGeom prst="ellipse">
            <a:avLst/>
          </a:prstGeom>
          <a:solidFill>
            <a:srgbClr val="4EA8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66360" y="20116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&amp; fairness audit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6517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parity, equal opportunity across protected groups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141B3D"/>
          </a:solidFill>
          <a:ln w="12700">
            <a:solidFill>
              <a:srgbClr val="5EE6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66760" y="2011680"/>
            <a:ext cx="457200" cy="457200"/>
          </a:xfrm>
          <a:prstGeom prst="ellipse">
            <a:avLst/>
          </a:prstGeom>
          <a:solidFill>
            <a:srgbClr val="5EE6A8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1120" y="20116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monitoring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6517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Population-stability + prediction-drift alerts in production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141B3D"/>
          </a:solidFill>
          <a:ln w="12700">
            <a:solidFill>
              <a:srgbClr val="FFC4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297680"/>
            <a:ext cx="457200" cy="457200"/>
          </a:xfrm>
          <a:prstGeom prst="ellipse">
            <a:avLst/>
          </a:prstGeom>
          <a:solidFill>
            <a:srgbClr val="FFC46B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2976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retraining loop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9377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from actual repayment outcomes → weekly model refresh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43400" y="411480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141B3D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4297680"/>
            <a:ext cx="457200" cy="457200"/>
          </a:xfrm>
          <a:prstGeom prst="ellipse">
            <a:avLst/>
          </a:prstGeom>
          <a:solidFill>
            <a:srgbClr val="7C6BF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66360" y="42976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UI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0" y="49377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Arabic-first credit officer already built — expand full UI translation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411480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66760" y="4297680"/>
            <a:ext cx="457200" cy="457200"/>
          </a:xfrm>
          <a:prstGeom prst="ellipse">
            <a:avLst/>
          </a:prstGeom>
          <a:solidFill>
            <a:srgbClr val="4EA8FF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0E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61120" y="42976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audit reports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66760" y="49377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regulator-ready explanation packet per applicant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·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that matter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22960" cy="54864"/>
          </a:xfrm>
          <a:prstGeom prst="rect">
            <a:avLst/>
          </a:prstGeom>
          <a:solidFill>
            <a:srgbClr val="7C6B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41B3D"/>
          </a:solidFill>
          <a:ln w="12700">
            <a:solidFill>
              <a:srgbClr val="FFC4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024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0.743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on held-out test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192024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343400" y="29260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43400" y="333756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F1-optimal threshold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178308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41B3D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192024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138160" y="292608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defaulters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0" y="333756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~15% at threshold 0.5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41B3D"/>
          </a:solidFill>
          <a:ln w="12700">
            <a:solidFill>
              <a:srgbClr val="5EE6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5196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5E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548640" y="52578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66928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· trees · deep · ensemble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41148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425196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4343400" y="52578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43400" y="566928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drivers in SHAP importance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38160" y="4114800"/>
            <a:ext cx="3611880" cy="2148840"/>
          </a:xfrm>
          <a:prstGeom prst="roundRect">
            <a:avLst>
              <a:gd name="adj" fmla="val 5106"/>
            </a:avLst>
          </a:prstGeom>
          <a:solidFill>
            <a:srgbClr val="141B3D"/>
          </a:solidFill>
          <a:ln w="12700">
            <a:solidFill>
              <a:srgbClr val="FFC4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38160" y="425196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 ms</a:t>
            </a:r>
            <a:endParaRPr lang="en-US" sz="4200" dirty="0"/>
          </a:p>
        </p:txBody>
      </p:sp>
      <p:sp>
        <p:nvSpPr>
          <p:cNvPr id="27" name="Text 25"/>
          <p:cNvSpPr/>
          <p:nvPr/>
        </p:nvSpPr>
        <p:spPr>
          <a:xfrm>
            <a:off x="8138160" y="52578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latency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138160" y="566928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end-to-end, SHAP + LIME cached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8229600" cy="8229600"/>
          </a:xfrm>
          <a:prstGeom prst="ellipse">
            <a:avLst/>
          </a:prstGeom>
          <a:solidFill>
            <a:srgbClr val="7C6BFF">
              <a:alpha val="18000"/>
            </a:srgbClr>
          </a:solidFill>
          <a:ln w="12700">
            <a:solidFill>
              <a:srgbClr val="0A0E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9144000" cy="9144000"/>
          </a:xfrm>
          <a:prstGeom prst="ellipse">
            <a:avLst/>
          </a:prstGeom>
          <a:solidFill>
            <a:srgbClr val="4EA8FF">
              <a:alpha val="15000"/>
            </a:srgbClr>
          </a:solidFill>
          <a:ln w="12700">
            <a:solidFill>
              <a:srgbClr val="0A0E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19456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7800" dirty="0"/>
          </a:p>
        </p:txBody>
      </p:sp>
      <p:sp>
        <p:nvSpPr>
          <p:cNvPr id="5" name="Shape 3"/>
          <p:cNvSpPr/>
          <p:nvPr/>
        </p:nvSpPr>
        <p:spPr>
          <a:xfrm>
            <a:off x="777240" y="3566160"/>
            <a:ext cx="822960" cy="54864"/>
          </a:xfrm>
          <a:prstGeom prst="rect">
            <a:avLst/>
          </a:prstGeom>
          <a:solidFill>
            <a:srgbClr val="7C6B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657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4937760"/>
            <a:ext cx="5303520" cy="1280160"/>
          </a:xfrm>
          <a:prstGeom prst="roundRect">
            <a:avLst>
              <a:gd name="adj" fmla="val 7143"/>
            </a:avLst>
          </a:prstGeom>
          <a:solidFill>
            <a:srgbClr val="141B3D"/>
          </a:solidFill>
          <a:ln w="12700">
            <a:solidFill>
              <a:srgbClr val="7C6B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0292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6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live demo
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depi-loan-default-xai-frontend.onrender.com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4937760"/>
            <a:ext cx="5303520" cy="1280160"/>
          </a:xfrm>
          <a:prstGeom prst="roundRect">
            <a:avLst>
              <a:gd name="adj" fmla="val 7143"/>
            </a:avLst>
          </a:prstGeom>
          <a:solidFill>
            <a:srgbClr val="141B3D"/>
          </a:solidFill>
          <a:ln w="12700">
            <a:solidFill>
              <a:srgbClr val="4EA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50292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EA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code
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github.com/karimabdelmonem/automated-explainable-ai-system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95760" y="653796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BA3C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Explainable AI for Loan Default Prediction</dc:title>
  <dc:subject>PptxGenJS Presentation</dc:subject>
  <dc:creator>Karim Abdelmonem &amp; Team</dc:creator>
  <cp:lastModifiedBy>Karim Abdelmonem &amp; Team</cp:lastModifiedBy>
  <cp:revision>1</cp:revision>
  <dcterms:created xsi:type="dcterms:W3CDTF">2026-07-15T08:30:41Z</dcterms:created>
  <dcterms:modified xsi:type="dcterms:W3CDTF">2026-07-15T08:30:41Z</dcterms:modified>
</cp:coreProperties>
</file>